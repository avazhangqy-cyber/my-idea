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51560" y="1965960"/>
            <a:ext cx="10058400" cy="640080"/>
          </a:xfrm>
          <a:prstGeom prst="rect">
            <a:avLst/>
          </a:prstGeom>
          <a:noFill/>
          <a:ln/>
        </p:spPr>
        <p:txBody>
          <a:bodyPr wrap="square" lIns="635" tIns="635" rIns="635" bIns="635" rtlCol="0" anchor="ctr">
            <a:normAutofit/>
          </a:bodyPr>
          <a:lstStyle/>
          <a:p>
            <a:pPr algn="ctr" indent="0" marL="0">
              <a:buNone/>
            </a:pPr>
            <a:r>
              <a:rPr lang="en-US" sz="2800" b="1" dirty="0">
                <a:solidFill>
                  <a:srgbClr val="111111"/>
                </a:solidFill>
                <a:latin typeface="Times New Roman" pitchFamily="34" charset="0"/>
                <a:ea typeface="Times New Roman" pitchFamily="34" charset="-122"/>
                <a:cs typeface="Times New Roman" pitchFamily="34" charset="-120"/>
              </a:rPr>
              <a:t>Anonymous Support Check-In</a:t>
            </a:r>
            <a:endParaRPr lang="en-US" sz="2800" dirty="0"/>
          </a:p>
        </p:txBody>
      </p:sp>
      <p:sp>
        <p:nvSpPr>
          <p:cNvPr id="3" name="Text 1"/>
          <p:cNvSpPr/>
          <p:nvPr/>
        </p:nvSpPr>
        <p:spPr>
          <a:xfrm>
            <a:off x="1828800" y="2788920"/>
            <a:ext cx="8549640" cy="320040"/>
          </a:xfrm>
          <a:prstGeom prst="rect">
            <a:avLst/>
          </a:prstGeom>
          <a:noFill/>
          <a:ln/>
        </p:spPr>
        <p:txBody>
          <a:bodyPr wrap="square" lIns="635" tIns="635" rIns="635" bIns="635" rtlCol="0" anchor="ctr">
            <a:normAutofit/>
          </a:bodyPr>
          <a:lstStyle/>
          <a:p>
            <a:pPr algn="ctr" indent="0" marL="0">
              <a:buNone/>
            </a:pPr>
            <a:r>
              <a:rPr lang="en-US" sz="1600" dirty="0">
                <a:solidFill>
                  <a:srgbClr val="111111"/>
                </a:solidFill>
                <a:latin typeface="Times New Roman" pitchFamily="34" charset="0"/>
                <a:ea typeface="Times New Roman" pitchFamily="34" charset="-122"/>
                <a:cs typeface="Times New Roman" pitchFamily="34" charset="-120"/>
              </a:rPr>
              <a:t>A one-page anonymous web tool for safer first steps</a:t>
            </a:r>
            <a:endParaRPr lang="en-US" sz="1600" dirty="0"/>
          </a:p>
        </p:txBody>
      </p:sp>
      <p:sp>
        <p:nvSpPr>
          <p:cNvPr id="4" name="Text 2"/>
          <p:cNvSpPr/>
          <p:nvPr/>
        </p:nvSpPr>
        <p:spPr>
          <a:xfrm>
            <a:off x="1828800" y="3767328"/>
            <a:ext cx="8549640" cy="228600"/>
          </a:xfrm>
          <a:prstGeom prst="rect">
            <a:avLst/>
          </a:prstGeom>
          <a:noFill/>
          <a:ln/>
        </p:spPr>
        <p:txBody>
          <a:bodyPr wrap="square" lIns="635" tIns="635" rIns="635" bIns="635" rtlCol="0" anchor="ctr">
            <a:normAutofit/>
          </a:bodyPr>
          <a:lstStyle/>
          <a:p>
            <a:pPr algn="ctr" indent="0" marL="0">
              <a:buNone/>
            </a:pPr>
            <a:r>
              <a:rPr lang="en-US" sz="1400" dirty="0">
                <a:solidFill>
                  <a:srgbClr val="111111"/>
                </a:solidFill>
                <a:latin typeface="Times New Roman" pitchFamily="34" charset="0"/>
                <a:ea typeface="Times New Roman" pitchFamily="34" charset="-122"/>
                <a:cs typeface="Times New Roman" pitchFamily="34" charset="-120"/>
              </a:rPr>
              <a:t>Ava Zhang</a:t>
            </a:r>
            <a:endParaRPr lang="en-US" sz="1400" dirty="0"/>
          </a:p>
        </p:txBody>
      </p:sp>
      <p:sp>
        <p:nvSpPr>
          <p:cNvPr id="5" name="Text 3"/>
          <p:cNvSpPr/>
          <p:nvPr/>
        </p:nvSpPr>
        <p:spPr>
          <a:xfrm>
            <a:off x="1828800" y="4114800"/>
            <a:ext cx="8549640" cy="228600"/>
          </a:xfrm>
          <a:prstGeom prst="rect">
            <a:avLst/>
          </a:prstGeom>
          <a:noFill/>
          <a:ln/>
        </p:spPr>
        <p:txBody>
          <a:bodyPr wrap="square" lIns="635" tIns="635" rIns="635" bIns="635" rtlCol="0" anchor="ctr">
            <a:normAutofit/>
          </a:bodyPr>
          <a:lstStyle/>
          <a:p>
            <a:pPr algn="ctr" indent="0" marL="0">
              <a:buNone/>
            </a:pPr>
            <a:r>
              <a:rPr lang="en-US" sz="1400" dirty="0">
                <a:solidFill>
                  <a:srgbClr val="111111"/>
                </a:solidFill>
                <a:latin typeface="Times New Roman" pitchFamily="34" charset="0"/>
                <a:ea typeface="Times New Roman" pitchFamily="34" charset="-122"/>
                <a:cs typeface="Times New Roman" pitchFamily="34" charset="-120"/>
              </a:rPr>
              <a:t>Research Advisor: Lawted Wu</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607040" cy="384048"/>
          </a:xfrm>
          <a:prstGeom prst="rect">
            <a:avLst/>
          </a:prstGeom>
          <a:noFill/>
          <a:ln/>
        </p:spPr>
        <p:txBody>
          <a:bodyPr wrap="square" lIns="635" tIns="635" rIns="635" bIns="635" rtlCol="0" anchor="ctr">
            <a:normAutofit/>
          </a:bodyPr>
          <a:lstStyle/>
          <a:p>
            <a:pPr indent="0" marL="0">
              <a:buNone/>
            </a:pPr>
            <a:r>
              <a:rPr lang="en-US" sz="2800" b="1" dirty="0">
                <a:solidFill>
                  <a:srgbClr val="111111"/>
                </a:solidFill>
                <a:latin typeface="Times New Roman" pitchFamily="34" charset="0"/>
                <a:ea typeface="Times New Roman" pitchFamily="34" charset="-122"/>
                <a:cs typeface="Times New Roman" pitchFamily="34" charset="-120"/>
              </a:rPr>
              <a:t>Research Question &amp; Hypothesis</a:t>
            </a:r>
            <a:endParaRPr lang="en-US" sz="2800" dirty="0"/>
          </a:p>
        </p:txBody>
      </p:sp>
      <p:sp>
        <p:nvSpPr>
          <p:cNvPr id="3" name="Shape 1"/>
          <p:cNvSpPr/>
          <p:nvPr/>
        </p:nvSpPr>
        <p:spPr>
          <a:xfrm>
            <a:off x="502920" y="850392"/>
            <a:ext cx="11155680" cy="0"/>
          </a:xfrm>
          <a:prstGeom prst="line">
            <a:avLst/>
          </a:prstGeom>
          <a:noFill/>
          <a:ln w="12700">
            <a:solidFill>
              <a:srgbClr val="C8C8C8"/>
            </a:solidFill>
            <a:prstDash val="solid"/>
          </a:ln>
        </p:spPr>
      </p:sp>
      <p:sp>
        <p:nvSpPr>
          <p:cNvPr id="4" name="Text 2"/>
          <p:cNvSpPr/>
          <p:nvPr/>
        </p:nvSpPr>
        <p:spPr>
          <a:xfrm>
            <a:off x="11201400" y="6345936"/>
            <a:ext cx="411480" cy="182880"/>
          </a:xfrm>
          <a:prstGeom prst="rect">
            <a:avLst/>
          </a:prstGeom>
          <a:noFill/>
          <a:ln/>
        </p:spPr>
        <p:txBody>
          <a:bodyPr wrap="square" lIns="635" tIns="635" rIns="635" bIns="635" rtlCol="0" anchor="ctr">
            <a:normAutofit/>
          </a:bodyPr>
          <a:lstStyle/>
          <a:p>
            <a:pPr algn="r" indent="0" marL="0">
              <a:buNone/>
            </a:pPr>
            <a:r>
              <a:rPr lang="en-US" sz="1200" dirty="0">
                <a:solidFill>
                  <a:srgbClr val="111111"/>
                </a:solidFill>
                <a:latin typeface="Times New Roman" pitchFamily="34" charset="0"/>
                <a:ea typeface="Times New Roman" pitchFamily="34" charset="-122"/>
                <a:cs typeface="Times New Roman" pitchFamily="34" charset="-120"/>
              </a:rPr>
              <a:t>2</a:t>
            </a:r>
            <a:endParaRPr lang="en-US" sz="1200" dirty="0"/>
          </a:p>
        </p:txBody>
      </p:sp>
      <p:sp>
        <p:nvSpPr>
          <p:cNvPr id="5" name="Text 3"/>
          <p:cNvSpPr/>
          <p:nvPr/>
        </p:nvSpPr>
        <p:spPr>
          <a:xfrm>
            <a:off x="685800" y="1143000"/>
            <a:ext cx="10744200" cy="4983480"/>
          </a:xfrm>
          <a:prstGeom prst="rect">
            <a:avLst/>
          </a:prstGeom>
          <a:noFill/>
          <a:ln/>
        </p:spPr>
        <p:txBody>
          <a:bodyPr wrap="square" lIns="635" tIns="635" rIns="635" bIns="635" rtlCol="0" anchor="ctr">
            <a:normAutofit/>
          </a:bodyPr>
          <a:lstStyle/>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Research question: How does an anonymous support webpage affect the feeling of being understood for high school students who are questioning or exploring sexual orientation?</a:t>
            </a:r>
            <a:endParaRPr lang="en-US" sz="1400" dirty="0"/>
          </a:p>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Hypothesis: I hypothesize that after using the anonymous support webpage, high school students who are questioning or exploring sexual orientation will increase their feeling of being understood and will be more able to name a safer next step.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607040" cy="384048"/>
          </a:xfrm>
          <a:prstGeom prst="rect">
            <a:avLst/>
          </a:prstGeom>
          <a:noFill/>
          <a:ln/>
        </p:spPr>
        <p:txBody>
          <a:bodyPr wrap="square" lIns="635" tIns="635" rIns="635" bIns="635" rtlCol="0" anchor="ctr">
            <a:normAutofit/>
          </a:bodyPr>
          <a:lstStyle/>
          <a:p>
            <a:pPr indent="0" marL="0">
              <a:buNone/>
            </a:pPr>
            <a:r>
              <a:rPr lang="en-US" sz="2800" b="1" dirty="0">
                <a:solidFill>
                  <a:srgbClr val="111111"/>
                </a:solidFill>
                <a:latin typeface="Times New Roman" pitchFamily="34" charset="0"/>
                <a:ea typeface="Times New Roman" pitchFamily="34" charset="-122"/>
                <a:cs typeface="Times New Roman" pitchFamily="34" charset="-120"/>
              </a:rPr>
              <a:t>Background</a:t>
            </a:r>
            <a:endParaRPr lang="en-US" sz="2800" dirty="0"/>
          </a:p>
        </p:txBody>
      </p:sp>
      <p:sp>
        <p:nvSpPr>
          <p:cNvPr id="3" name="Shape 1"/>
          <p:cNvSpPr/>
          <p:nvPr/>
        </p:nvSpPr>
        <p:spPr>
          <a:xfrm>
            <a:off x="502920" y="850392"/>
            <a:ext cx="11155680" cy="0"/>
          </a:xfrm>
          <a:prstGeom prst="line">
            <a:avLst/>
          </a:prstGeom>
          <a:noFill/>
          <a:ln w="12700">
            <a:solidFill>
              <a:srgbClr val="C8C8C8"/>
            </a:solidFill>
            <a:prstDash val="solid"/>
          </a:ln>
        </p:spPr>
      </p:sp>
      <p:sp>
        <p:nvSpPr>
          <p:cNvPr id="4" name="Text 2"/>
          <p:cNvSpPr/>
          <p:nvPr/>
        </p:nvSpPr>
        <p:spPr>
          <a:xfrm>
            <a:off x="11201400" y="6345936"/>
            <a:ext cx="411480" cy="182880"/>
          </a:xfrm>
          <a:prstGeom prst="rect">
            <a:avLst/>
          </a:prstGeom>
          <a:noFill/>
          <a:ln/>
        </p:spPr>
        <p:txBody>
          <a:bodyPr wrap="square" lIns="635" tIns="635" rIns="635" bIns="635" rtlCol="0" anchor="ctr">
            <a:normAutofit/>
          </a:bodyPr>
          <a:lstStyle/>
          <a:p>
            <a:pPr algn="r" indent="0" marL="0">
              <a:buNone/>
            </a:pPr>
            <a:r>
              <a:rPr lang="en-US" sz="1200" dirty="0">
                <a:solidFill>
                  <a:srgbClr val="111111"/>
                </a:solidFill>
                <a:latin typeface="Times New Roman" pitchFamily="34" charset="0"/>
                <a:ea typeface="Times New Roman" pitchFamily="34" charset="-122"/>
                <a:cs typeface="Times New Roman" pitchFamily="34" charset="-120"/>
              </a:rPr>
              <a:t>3</a:t>
            </a:r>
            <a:endParaRPr lang="en-US" sz="1200" dirty="0"/>
          </a:p>
        </p:txBody>
      </p:sp>
      <p:sp>
        <p:nvSpPr>
          <p:cNvPr id="5" name="Text 3"/>
          <p:cNvSpPr/>
          <p:nvPr/>
        </p:nvSpPr>
        <p:spPr>
          <a:xfrm>
            <a:off x="685800" y="1143000"/>
            <a:ext cx="10744200" cy="4983480"/>
          </a:xfrm>
          <a:prstGeom prst="rect">
            <a:avLst/>
          </a:prstGeom>
          <a:noFill/>
          <a:ln/>
        </p:spPr>
        <p:txBody>
          <a:bodyPr wrap="square" lIns="635" tIns="635" rIns="635" bIns="635" rtlCol="0" anchor="ctr">
            <a:normAutofit/>
          </a:bodyPr>
          <a:lstStyle/>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Some students who are exploring sexual orientation may feel uncertain, private, or afraid of rejection. They may not be ready to talk face to face with a teacher, counselor, parent, or friend.</a:t>
            </a:r>
            <a:endParaRPr lang="en-US" sz="1400" dirty="0"/>
          </a:p>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This issue matters because the risk is not caused by identity itself. Many sources point to stigma, bullying, discrimination, and lack of support as the problem. A small private tool cannot replace real support, but it can be a first step when a student is not ready to speak openly.</a:t>
            </a:r>
            <a:endParaRPr lang="en-US" sz="1400" dirty="0"/>
          </a:p>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My project focuses on privacy, non-judgmental language, and safe next steps.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607040" cy="384048"/>
          </a:xfrm>
          <a:prstGeom prst="rect">
            <a:avLst/>
          </a:prstGeom>
          <a:noFill/>
          <a:ln/>
        </p:spPr>
        <p:txBody>
          <a:bodyPr wrap="square" lIns="635" tIns="635" rIns="635" bIns="635" rtlCol="0" anchor="ctr">
            <a:normAutofit/>
          </a:bodyPr>
          <a:lstStyle/>
          <a:p>
            <a:pPr indent="0" marL="0">
              <a:buNone/>
            </a:pPr>
            <a:r>
              <a:rPr lang="en-US" sz="2800" b="1" dirty="0">
                <a:solidFill>
                  <a:srgbClr val="111111"/>
                </a:solidFill>
                <a:latin typeface="Times New Roman" pitchFamily="34" charset="0"/>
                <a:ea typeface="Times New Roman" pitchFamily="34" charset="-122"/>
                <a:cs typeface="Times New Roman" pitchFamily="34" charset="-120"/>
              </a:rPr>
              <a:t>Literature Review</a:t>
            </a:r>
            <a:endParaRPr lang="en-US" sz="2800" dirty="0"/>
          </a:p>
        </p:txBody>
      </p:sp>
      <p:sp>
        <p:nvSpPr>
          <p:cNvPr id="3" name="Shape 1"/>
          <p:cNvSpPr/>
          <p:nvPr/>
        </p:nvSpPr>
        <p:spPr>
          <a:xfrm>
            <a:off x="502920" y="850392"/>
            <a:ext cx="11155680" cy="0"/>
          </a:xfrm>
          <a:prstGeom prst="line">
            <a:avLst/>
          </a:prstGeom>
          <a:noFill/>
          <a:ln w="12700">
            <a:solidFill>
              <a:srgbClr val="C8C8C8"/>
            </a:solidFill>
            <a:prstDash val="solid"/>
          </a:ln>
        </p:spPr>
      </p:sp>
      <p:sp>
        <p:nvSpPr>
          <p:cNvPr id="4" name="Text 2"/>
          <p:cNvSpPr/>
          <p:nvPr/>
        </p:nvSpPr>
        <p:spPr>
          <a:xfrm>
            <a:off x="11201400" y="6345936"/>
            <a:ext cx="411480" cy="182880"/>
          </a:xfrm>
          <a:prstGeom prst="rect">
            <a:avLst/>
          </a:prstGeom>
          <a:noFill/>
          <a:ln/>
        </p:spPr>
        <p:txBody>
          <a:bodyPr wrap="square" lIns="635" tIns="635" rIns="635" bIns="635" rtlCol="0" anchor="ctr">
            <a:normAutofit/>
          </a:bodyPr>
          <a:lstStyle/>
          <a:p>
            <a:pPr algn="r" indent="0" marL="0">
              <a:buNone/>
            </a:pPr>
            <a:r>
              <a:rPr lang="en-US" sz="1200" dirty="0">
                <a:solidFill>
                  <a:srgbClr val="111111"/>
                </a:solidFill>
                <a:latin typeface="Times New Roman" pitchFamily="34" charset="0"/>
                <a:ea typeface="Times New Roman" pitchFamily="34" charset="-122"/>
                <a:cs typeface="Times New Roman" pitchFamily="34" charset="-120"/>
              </a:rPr>
              <a:t>4</a:t>
            </a:r>
            <a:endParaRPr lang="en-US" sz="1200" dirty="0"/>
          </a:p>
        </p:txBody>
      </p:sp>
      <p:sp>
        <p:nvSpPr>
          <p:cNvPr id="5" name="Text 3"/>
          <p:cNvSpPr/>
          <p:nvPr/>
        </p:nvSpPr>
        <p:spPr>
          <a:xfrm>
            <a:off x="685800" y="1143000"/>
            <a:ext cx="10744200" cy="4983480"/>
          </a:xfrm>
          <a:prstGeom prst="rect">
            <a:avLst/>
          </a:prstGeom>
          <a:noFill/>
          <a:ln/>
        </p:spPr>
        <p:txBody>
          <a:bodyPr wrap="square" lIns="635" tIns="635" rIns="635" bIns="635" rtlCol="0" anchor="ctr">
            <a:normAutofit/>
          </a:bodyPr>
          <a:lstStyle/>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The American Psychological Association explains that sexual orientation is a normal part of human diversity. This supports my decision not to test, diagnose, or label users.</a:t>
            </a:r>
            <a:endParaRPr lang="en-US" sz="1400" dirty="0"/>
          </a:p>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Berger et al. reviewed research on LGBTQ youth and social media. They found that online spaces can help with connection, identity exploration, and support, but they also warned about risks such as outing and weak privacy protections. This supports my focus on anonymity and not collecting identity data.</a:t>
            </a:r>
            <a:endParaRPr lang="en-US" sz="1400" dirty="0"/>
          </a:p>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CDC materials show that LGBTQ students are especially affected in the youth mental health crisis, and that school connectedness can protect student well-being. This supports the idea that safer support pathways matter.</a:t>
            </a:r>
            <a:endParaRPr lang="en-US" sz="1400" dirty="0"/>
          </a:p>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GLSEN reports that hostile school climates are linked with lower self-esteem, higher depression, lower GPAs, and missed school. This shows why fear of rejection and safety concerns belong in the prototype.</a:t>
            </a:r>
            <a:endParaRPr lang="en-US" sz="1400" dirty="0"/>
          </a:p>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The Trevor Project 2025 survey reports that 36% of LGBTQ young people seriously considered suicide in the past year and that 77% identified online spaces as supportive. This does not prove that my tool will work, but it shows why supportive and low-barrier online spaces are worth testing.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607040" cy="384048"/>
          </a:xfrm>
          <a:prstGeom prst="rect">
            <a:avLst/>
          </a:prstGeom>
          <a:noFill/>
          <a:ln/>
        </p:spPr>
        <p:txBody>
          <a:bodyPr wrap="square" lIns="635" tIns="635" rIns="635" bIns="635" rtlCol="0" anchor="ctr">
            <a:normAutofit/>
          </a:bodyPr>
          <a:lstStyle/>
          <a:p>
            <a:pPr indent="0" marL="0">
              <a:buNone/>
            </a:pPr>
            <a:r>
              <a:rPr lang="en-US" sz="2800" b="1" dirty="0">
                <a:solidFill>
                  <a:srgbClr val="111111"/>
                </a:solidFill>
                <a:latin typeface="Times New Roman" pitchFamily="34" charset="0"/>
                <a:ea typeface="Times New Roman" pitchFamily="34" charset="-122"/>
                <a:cs typeface="Times New Roman" pitchFamily="34" charset="-120"/>
              </a:rPr>
              <a:t>Research Design / Method</a:t>
            </a:r>
            <a:endParaRPr lang="en-US" sz="2800" dirty="0"/>
          </a:p>
        </p:txBody>
      </p:sp>
      <p:sp>
        <p:nvSpPr>
          <p:cNvPr id="3" name="Shape 1"/>
          <p:cNvSpPr/>
          <p:nvPr/>
        </p:nvSpPr>
        <p:spPr>
          <a:xfrm>
            <a:off x="502920" y="850392"/>
            <a:ext cx="11155680" cy="0"/>
          </a:xfrm>
          <a:prstGeom prst="line">
            <a:avLst/>
          </a:prstGeom>
          <a:noFill/>
          <a:ln w="12700">
            <a:solidFill>
              <a:srgbClr val="C8C8C8"/>
            </a:solidFill>
            <a:prstDash val="solid"/>
          </a:ln>
        </p:spPr>
      </p:sp>
      <p:sp>
        <p:nvSpPr>
          <p:cNvPr id="4" name="Text 2"/>
          <p:cNvSpPr/>
          <p:nvPr/>
        </p:nvSpPr>
        <p:spPr>
          <a:xfrm>
            <a:off x="11201400" y="6345936"/>
            <a:ext cx="411480" cy="182880"/>
          </a:xfrm>
          <a:prstGeom prst="rect">
            <a:avLst/>
          </a:prstGeom>
          <a:noFill/>
          <a:ln/>
        </p:spPr>
        <p:txBody>
          <a:bodyPr wrap="square" lIns="635" tIns="635" rIns="635" bIns="635" rtlCol="0" anchor="ctr">
            <a:normAutofit/>
          </a:bodyPr>
          <a:lstStyle/>
          <a:p>
            <a:pPr algn="r" indent="0" marL="0">
              <a:buNone/>
            </a:pPr>
            <a:r>
              <a:rPr lang="en-US" sz="1200" dirty="0">
                <a:solidFill>
                  <a:srgbClr val="111111"/>
                </a:solidFill>
                <a:latin typeface="Times New Roman" pitchFamily="34" charset="0"/>
                <a:ea typeface="Times New Roman" pitchFamily="34" charset="-122"/>
                <a:cs typeface="Times New Roman" pitchFamily="34" charset="-120"/>
              </a:rPr>
              <a:t>5</a:t>
            </a:r>
            <a:endParaRPr lang="en-US" sz="1200" dirty="0"/>
          </a:p>
        </p:txBody>
      </p:sp>
      <p:sp>
        <p:nvSpPr>
          <p:cNvPr id="5" name="Text 3"/>
          <p:cNvSpPr/>
          <p:nvPr/>
        </p:nvSpPr>
        <p:spPr>
          <a:xfrm>
            <a:off x="685800" y="1143000"/>
            <a:ext cx="10744200" cy="4983480"/>
          </a:xfrm>
          <a:prstGeom prst="rect">
            <a:avLst/>
          </a:prstGeom>
          <a:noFill/>
          <a:ln/>
        </p:spPr>
        <p:txBody>
          <a:bodyPr wrap="square" lIns="635" tIns="635" rIns="635" bIns="635" rtlCol="0" anchor="ctr">
            <a:normAutofit/>
          </a:bodyPr>
          <a:lstStyle/>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My artifact is a static HTML webpage. The user chooses one of four concerns: uncertainty, fear of rejection, privacy while searching, or not knowing whom to talk to.</a:t>
            </a:r>
            <a:endParaRPr lang="en-US" sz="1400" dirty="0"/>
          </a:p>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After choosing a concern, the page shows a short supportive response and safer next steps. The user can then give anonymous feedback: one score for feeling understood, one score for helpfulness, and one optional open response.</a:t>
            </a:r>
            <a:endParaRPr lang="en-US" sz="1400" dirty="0"/>
          </a:p>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I plan to ask at least 10 real users to try the prototype. I will not collect names, schools, contact information, exact location, or detailed personal stories.</a:t>
            </a:r>
            <a:endParaRPr lang="en-US" sz="1400" dirty="0"/>
          </a:p>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I will analyze the average ratings and look for repeated themes in the open feedback.</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607040" cy="384048"/>
          </a:xfrm>
          <a:prstGeom prst="rect">
            <a:avLst/>
          </a:prstGeom>
          <a:noFill/>
          <a:ln/>
        </p:spPr>
        <p:txBody>
          <a:bodyPr wrap="square" lIns="635" tIns="635" rIns="635" bIns="635" rtlCol="0" anchor="ctr">
            <a:normAutofit/>
          </a:bodyPr>
          <a:lstStyle/>
          <a:p>
            <a:pPr indent="0" marL="0">
              <a:buNone/>
            </a:pPr>
            <a:r>
              <a:rPr lang="en-US" sz="2800" b="1" dirty="0">
                <a:solidFill>
                  <a:srgbClr val="111111"/>
                </a:solidFill>
                <a:latin typeface="Times New Roman" pitchFamily="34" charset="0"/>
                <a:ea typeface="Times New Roman" pitchFamily="34" charset="-122"/>
                <a:cs typeface="Times New Roman" pitchFamily="34" charset="-120"/>
              </a:rPr>
              <a:t>Research Plan &amp; Challenges</a:t>
            </a:r>
            <a:endParaRPr lang="en-US" sz="2800" dirty="0"/>
          </a:p>
        </p:txBody>
      </p:sp>
      <p:sp>
        <p:nvSpPr>
          <p:cNvPr id="3" name="Shape 1"/>
          <p:cNvSpPr/>
          <p:nvPr/>
        </p:nvSpPr>
        <p:spPr>
          <a:xfrm>
            <a:off x="502920" y="850392"/>
            <a:ext cx="11155680" cy="0"/>
          </a:xfrm>
          <a:prstGeom prst="line">
            <a:avLst/>
          </a:prstGeom>
          <a:noFill/>
          <a:ln w="12700">
            <a:solidFill>
              <a:srgbClr val="C8C8C8"/>
            </a:solidFill>
            <a:prstDash val="solid"/>
          </a:ln>
        </p:spPr>
      </p:sp>
      <p:sp>
        <p:nvSpPr>
          <p:cNvPr id="4" name="Text 2"/>
          <p:cNvSpPr/>
          <p:nvPr/>
        </p:nvSpPr>
        <p:spPr>
          <a:xfrm>
            <a:off x="11201400" y="6345936"/>
            <a:ext cx="411480" cy="182880"/>
          </a:xfrm>
          <a:prstGeom prst="rect">
            <a:avLst/>
          </a:prstGeom>
          <a:noFill/>
          <a:ln/>
        </p:spPr>
        <p:txBody>
          <a:bodyPr wrap="square" lIns="635" tIns="635" rIns="635" bIns="635" rtlCol="0" anchor="ctr">
            <a:normAutofit/>
          </a:bodyPr>
          <a:lstStyle/>
          <a:p>
            <a:pPr algn="r" indent="0" marL="0">
              <a:buNone/>
            </a:pPr>
            <a:r>
              <a:rPr lang="en-US" sz="1200" dirty="0">
                <a:solidFill>
                  <a:srgbClr val="111111"/>
                </a:solidFill>
                <a:latin typeface="Times New Roman" pitchFamily="34" charset="0"/>
                <a:ea typeface="Times New Roman" pitchFamily="34" charset="-122"/>
                <a:cs typeface="Times New Roman" pitchFamily="34" charset="-120"/>
              </a:rPr>
              <a:t>6</a:t>
            </a:r>
            <a:endParaRPr lang="en-US" sz="1200" dirty="0"/>
          </a:p>
        </p:txBody>
      </p:sp>
      <p:sp>
        <p:nvSpPr>
          <p:cNvPr id="5" name="Text 3"/>
          <p:cNvSpPr/>
          <p:nvPr/>
        </p:nvSpPr>
        <p:spPr>
          <a:xfrm>
            <a:off x="685800" y="1143000"/>
            <a:ext cx="10744200" cy="4983480"/>
          </a:xfrm>
          <a:prstGeom prst="rect">
            <a:avLst/>
          </a:prstGeom>
          <a:noFill/>
          <a:ln/>
        </p:spPr>
        <p:txBody>
          <a:bodyPr wrap="square" lIns="635" tIns="635" rIns="635" bIns="635" rtlCol="0" anchor="ctr">
            <a:normAutofit/>
          </a:bodyPr>
          <a:lstStyle/>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Current progress: the website prototype is built, deployed, and documented. The research folder includes sources, a summary, questions, and key findings.</a:t>
            </a:r>
            <a:endParaRPr lang="en-US" sz="1400" dirty="0"/>
          </a:p>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Next steps: test with at least 10 users, collect anonymous feedback, organize the feedback themes, and improve the wording and safety guidance.</a:t>
            </a:r>
            <a:endParaRPr lang="en-US" sz="1400" dirty="0"/>
          </a:p>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Main challenges: the topic is sensitive, so the tool must avoid pressure, labels, and identity collection. Another challenge is that the first user study will be small, so I should describe it as early feedback, not final proof.</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607040" cy="384048"/>
          </a:xfrm>
          <a:prstGeom prst="rect">
            <a:avLst/>
          </a:prstGeom>
          <a:noFill/>
          <a:ln/>
        </p:spPr>
        <p:txBody>
          <a:bodyPr wrap="square" lIns="635" tIns="635" rIns="635" bIns="635" rtlCol="0" anchor="ctr">
            <a:normAutofit/>
          </a:bodyPr>
          <a:lstStyle/>
          <a:p>
            <a:pPr indent="0" marL="0">
              <a:buNone/>
            </a:pPr>
            <a:r>
              <a:rPr lang="en-US" sz="2800" b="1" dirty="0">
                <a:solidFill>
                  <a:srgbClr val="111111"/>
                </a:solidFill>
                <a:latin typeface="Times New Roman" pitchFamily="34" charset="0"/>
                <a:ea typeface="Times New Roman" pitchFamily="34" charset="-122"/>
                <a:cs typeface="Times New Roman" pitchFamily="34" charset="-120"/>
              </a:rPr>
              <a:t>Expected Results — user study not yet run</a:t>
            </a:r>
            <a:endParaRPr lang="en-US" sz="2800" dirty="0"/>
          </a:p>
        </p:txBody>
      </p:sp>
      <p:sp>
        <p:nvSpPr>
          <p:cNvPr id="3" name="Shape 1"/>
          <p:cNvSpPr/>
          <p:nvPr/>
        </p:nvSpPr>
        <p:spPr>
          <a:xfrm>
            <a:off x="502920" y="850392"/>
            <a:ext cx="11155680" cy="0"/>
          </a:xfrm>
          <a:prstGeom prst="line">
            <a:avLst/>
          </a:prstGeom>
          <a:noFill/>
          <a:ln w="12700">
            <a:solidFill>
              <a:srgbClr val="C8C8C8"/>
            </a:solidFill>
            <a:prstDash val="solid"/>
          </a:ln>
        </p:spPr>
      </p:sp>
      <p:sp>
        <p:nvSpPr>
          <p:cNvPr id="4" name="Text 2"/>
          <p:cNvSpPr/>
          <p:nvPr/>
        </p:nvSpPr>
        <p:spPr>
          <a:xfrm>
            <a:off x="11201400" y="6345936"/>
            <a:ext cx="411480" cy="182880"/>
          </a:xfrm>
          <a:prstGeom prst="rect">
            <a:avLst/>
          </a:prstGeom>
          <a:noFill/>
          <a:ln/>
        </p:spPr>
        <p:txBody>
          <a:bodyPr wrap="square" lIns="635" tIns="635" rIns="635" bIns="635" rtlCol="0" anchor="ctr">
            <a:normAutofit/>
          </a:bodyPr>
          <a:lstStyle/>
          <a:p>
            <a:pPr algn="r" indent="0" marL="0">
              <a:buNone/>
            </a:pPr>
            <a:r>
              <a:rPr lang="en-US" sz="1200" dirty="0">
                <a:solidFill>
                  <a:srgbClr val="111111"/>
                </a:solidFill>
                <a:latin typeface="Times New Roman" pitchFamily="34" charset="0"/>
                <a:ea typeface="Times New Roman" pitchFamily="34" charset="-122"/>
                <a:cs typeface="Times New Roman" pitchFamily="34" charset="-120"/>
              </a:rPr>
              <a:t>7</a:t>
            </a:r>
            <a:endParaRPr lang="en-US" sz="1200" dirty="0"/>
          </a:p>
        </p:txBody>
      </p:sp>
      <p:sp>
        <p:nvSpPr>
          <p:cNvPr id="5" name="Text 3"/>
          <p:cNvSpPr/>
          <p:nvPr/>
        </p:nvSpPr>
        <p:spPr>
          <a:xfrm>
            <a:off x="685800" y="1234440"/>
            <a:ext cx="5852160" cy="4480560"/>
          </a:xfrm>
          <a:prstGeom prst="rect">
            <a:avLst/>
          </a:prstGeom>
          <a:noFill/>
          <a:ln/>
        </p:spPr>
        <p:txBody>
          <a:bodyPr wrap="square" lIns="635" tIns="635" rIns="635" bIns="635" rtlCol="0" anchor="ctr">
            <a:normAutofit/>
          </a:bodyPr>
          <a:lstStyle/>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I expect some users will say the tool feels safer than asking a person immediately, because it is anonymous and low pressure.</a:t>
            </a:r>
            <a:endParaRPr lang="en-US" sz="1400" dirty="0"/>
          </a:p>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I expect the strongest feedback to be about wording, privacy, and what resources should be shown next.</a:t>
            </a:r>
            <a:endParaRPr lang="en-US" sz="1400" dirty="0"/>
          </a:p>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I do not have user study results yet. I will not claim that the prototype works until real users test it.</a:t>
            </a:r>
            <a:endParaRPr lang="en-US" sz="1400" dirty="0"/>
          </a:p>
        </p:txBody>
      </p:sp>
      <p:sp>
        <p:nvSpPr>
          <p:cNvPr id="6" name="Shape 4"/>
          <p:cNvSpPr/>
          <p:nvPr/>
        </p:nvSpPr>
        <p:spPr>
          <a:xfrm>
            <a:off x="7086600" y="1481328"/>
            <a:ext cx="3977640" cy="3611880"/>
          </a:xfrm>
          <a:prstGeom prst="rect">
            <a:avLst/>
          </a:prstGeom>
          <a:solidFill>
            <a:srgbClr val="F4F4F4">
              <a:alpha val="90000"/>
            </a:srgbClr>
          </a:solidFill>
          <a:ln w="19050">
            <a:solidFill>
              <a:srgbClr val="8A8A8A"/>
            </a:solidFill>
            <a:prstDash val="solid"/>
          </a:ln>
        </p:spPr>
      </p:sp>
      <p:sp>
        <p:nvSpPr>
          <p:cNvPr id="7" name="Text 5"/>
          <p:cNvSpPr/>
          <p:nvPr/>
        </p:nvSpPr>
        <p:spPr>
          <a:xfrm>
            <a:off x="7479792" y="3063240"/>
            <a:ext cx="3200400" cy="320040"/>
          </a:xfrm>
          <a:prstGeom prst="rect">
            <a:avLst/>
          </a:prstGeom>
          <a:noFill/>
          <a:ln/>
        </p:spPr>
        <p:txBody>
          <a:bodyPr wrap="square" lIns="635" tIns="635" rIns="635" bIns="635" rtlCol="0" anchor="ctr">
            <a:normAutofit/>
          </a:bodyPr>
          <a:lstStyle/>
          <a:p>
            <a:pPr algn="ctr" indent="0" marL="0">
              <a:buNone/>
            </a:pPr>
            <a:r>
              <a:rPr lang="en-US" sz="1400" dirty="0">
                <a:solidFill>
                  <a:srgbClr val="666666"/>
                </a:solidFill>
                <a:latin typeface="Times New Roman" pitchFamily="34" charset="0"/>
                <a:ea typeface="Times New Roman" pitchFamily="34" charset="-122"/>
                <a:cs typeface="Times New Roman" pitchFamily="34" charset="-120"/>
              </a:rPr>
              <a:t>Insert prototype screenshot here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607040" cy="384048"/>
          </a:xfrm>
          <a:prstGeom prst="rect">
            <a:avLst/>
          </a:prstGeom>
          <a:noFill/>
          <a:ln/>
        </p:spPr>
        <p:txBody>
          <a:bodyPr wrap="square" lIns="635" tIns="635" rIns="635" bIns="635" rtlCol="0" anchor="ctr">
            <a:normAutofit/>
          </a:bodyPr>
          <a:lstStyle/>
          <a:p>
            <a:pPr indent="0" marL="0">
              <a:buNone/>
            </a:pPr>
            <a:r>
              <a:rPr lang="en-US" sz="2800" b="1" dirty="0">
                <a:solidFill>
                  <a:srgbClr val="111111"/>
                </a:solidFill>
                <a:latin typeface="Times New Roman" pitchFamily="34" charset="0"/>
                <a:ea typeface="Times New Roman" pitchFamily="34" charset="-122"/>
                <a:cs typeface="Times New Roman" pitchFamily="34" charset="-120"/>
              </a:rPr>
              <a:t>References</a:t>
            </a:r>
            <a:endParaRPr lang="en-US" sz="2800" dirty="0"/>
          </a:p>
        </p:txBody>
      </p:sp>
      <p:sp>
        <p:nvSpPr>
          <p:cNvPr id="3" name="Shape 1"/>
          <p:cNvSpPr/>
          <p:nvPr/>
        </p:nvSpPr>
        <p:spPr>
          <a:xfrm>
            <a:off x="502920" y="850392"/>
            <a:ext cx="11155680" cy="0"/>
          </a:xfrm>
          <a:prstGeom prst="line">
            <a:avLst/>
          </a:prstGeom>
          <a:noFill/>
          <a:ln w="12700">
            <a:solidFill>
              <a:srgbClr val="C8C8C8"/>
            </a:solidFill>
            <a:prstDash val="solid"/>
          </a:ln>
        </p:spPr>
      </p:sp>
      <p:sp>
        <p:nvSpPr>
          <p:cNvPr id="4" name="Text 2"/>
          <p:cNvSpPr/>
          <p:nvPr/>
        </p:nvSpPr>
        <p:spPr>
          <a:xfrm>
            <a:off x="11201400" y="6345936"/>
            <a:ext cx="411480" cy="182880"/>
          </a:xfrm>
          <a:prstGeom prst="rect">
            <a:avLst/>
          </a:prstGeom>
          <a:noFill/>
          <a:ln/>
        </p:spPr>
        <p:txBody>
          <a:bodyPr wrap="square" lIns="635" tIns="635" rIns="635" bIns="635" rtlCol="0" anchor="ctr">
            <a:normAutofit/>
          </a:bodyPr>
          <a:lstStyle/>
          <a:p>
            <a:pPr algn="r" indent="0" marL="0">
              <a:buNone/>
            </a:pPr>
            <a:r>
              <a:rPr lang="en-US" sz="1200" dirty="0">
                <a:solidFill>
                  <a:srgbClr val="111111"/>
                </a:solidFill>
                <a:latin typeface="Times New Roman" pitchFamily="34" charset="0"/>
                <a:ea typeface="Times New Roman" pitchFamily="34" charset="-122"/>
                <a:cs typeface="Times New Roman" pitchFamily="34" charset="-120"/>
              </a:rPr>
              <a:t>8</a:t>
            </a:r>
            <a:endParaRPr lang="en-US" sz="1200" dirty="0"/>
          </a:p>
        </p:txBody>
      </p:sp>
      <p:sp>
        <p:nvSpPr>
          <p:cNvPr id="5" name="Text 3"/>
          <p:cNvSpPr/>
          <p:nvPr/>
        </p:nvSpPr>
        <p:spPr>
          <a:xfrm>
            <a:off x="658368" y="1078992"/>
            <a:ext cx="10881360" cy="5212080"/>
          </a:xfrm>
          <a:prstGeom prst="rect">
            <a:avLst/>
          </a:prstGeom>
          <a:noFill/>
          <a:ln/>
        </p:spPr>
        <p:txBody>
          <a:bodyPr wrap="square" lIns="381" tIns="381" rIns="381" bIns="381" rtlCol="0" anchor="ctr">
            <a:normAutofit/>
          </a:bodyPr>
          <a:lstStyle/>
          <a:p>
            <a:pPr marL="152400" indent="-152400">
              <a:lnSpc>
                <a:spcPct val="115000"/>
              </a:lnSpc>
              <a:buSzPct val="100000"/>
              <a:buChar char="•"/>
            </a:pPr>
            <a:r>
              <a:rPr lang="en-US" sz="1200" dirty="0">
                <a:solidFill>
                  <a:srgbClr val="111111"/>
                </a:solidFill>
                <a:latin typeface="Times New Roman" pitchFamily="34" charset="0"/>
                <a:ea typeface="Times New Roman" pitchFamily="34" charset="-122"/>
                <a:cs typeface="Times New Roman" pitchFamily="34" charset="-120"/>
              </a:rPr>
              <a:t>American Psychological Association. (n.d.). Just the facts about sexual orientation and youth. https://www.apa.org/pi/lgbt/resources/just-the-facts</a:t>
            </a:r>
            <a:endParaRPr lang="en-US" sz="1200" dirty="0"/>
          </a:p>
          <a:p>
            <a:pPr marL="152400" indent="-152400">
              <a:lnSpc>
                <a:spcPct val="115000"/>
              </a:lnSpc>
              <a:buSzPct val="100000"/>
              <a:buChar char="•"/>
            </a:pPr>
            <a:r>
              <a:rPr lang="en-US" sz="1200" dirty="0">
                <a:solidFill>
                  <a:srgbClr val="111111"/>
                </a:solidFill>
                <a:latin typeface="Times New Roman" pitchFamily="34" charset="0"/>
                <a:ea typeface="Times New Roman" pitchFamily="34" charset="-122"/>
                <a:cs typeface="Times New Roman" pitchFamily="34" charset="-120"/>
              </a:rPr>
              <a:t>Berger, M. N., Taba, M., Marino, J. L., Lim, M. S. C., &amp; Skinner, S. R. (2022). Social media use and health and well-being of LGBTQ youth: Systematic review. Journal of Medical Internet Research, 24(9), e38449. https://www.jmir.org/2022/9/e38449/</a:t>
            </a:r>
            <a:endParaRPr lang="en-US" sz="1200" dirty="0"/>
          </a:p>
          <a:p>
            <a:pPr marL="152400" indent="-152400">
              <a:lnSpc>
                <a:spcPct val="115000"/>
              </a:lnSpc>
              <a:buSzPct val="100000"/>
              <a:buChar char="•"/>
            </a:pPr>
            <a:r>
              <a:rPr lang="en-US" sz="1200" dirty="0">
                <a:solidFill>
                  <a:srgbClr val="111111"/>
                </a:solidFill>
                <a:latin typeface="Times New Roman" pitchFamily="34" charset="0"/>
                <a:ea typeface="Times New Roman" pitchFamily="34" charset="-122"/>
                <a:cs typeface="Times New Roman" pitchFamily="34" charset="-120"/>
              </a:rPr>
              <a:t>Centers for Disease Control and Prevention. (2024). 2023 Youth Risk Behavior Survey results. https://www.cdc.gov/yrbs/results/2023-yrbs-results.html</a:t>
            </a:r>
            <a:endParaRPr lang="en-US" sz="1200" dirty="0"/>
          </a:p>
          <a:p>
            <a:pPr marL="152400" indent="-152400">
              <a:lnSpc>
                <a:spcPct val="115000"/>
              </a:lnSpc>
              <a:buSzPct val="100000"/>
              <a:buChar char="•"/>
            </a:pPr>
            <a:r>
              <a:rPr lang="en-US" sz="1200" dirty="0">
                <a:solidFill>
                  <a:srgbClr val="111111"/>
                </a:solidFill>
                <a:latin typeface="Times New Roman" pitchFamily="34" charset="0"/>
                <a:ea typeface="Times New Roman" pitchFamily="34" charset="-122"/>
                <a:cs typeface="Times New Roman" pitchFamily="34" charset="-120"/>
              </a:rPr>
              <a:t>Centers for Disease Control and Prevention. (2024). School connectedness helps students thrive. https://www.cdc.gov/youth-behavior/school-connectedness/index.html</a:t>
            </a:r>
            <a:endParaRPr lang="en-US" sz="1200" dirty="0"/>
          </a:p>
          <a:p>
            <a:pPr marL="152400" indent="-152400">
              <a:lnSpc>
                <a:spcPct val="115000"/>
              </a:lnSpc>
              <a:buSzPct val="100000"/>
              <a:buChar char="•"/>
            </a:pPr>
            <a:r>
              <a:rPr lang="en-US" sz="1200" dirty="0">
                <a:solidFill>
                  <a:srgbClr val="111111"/>
                </a:solidFill>
                <a:latin typeface="Times New Roman" pitchFamily="34" charset="0"/>
                <a:ea typeface="Times New Roman" pitchFamily="34" charset="-122"/>
                <a:cs typeface="Times New Roman" pitchFamily="34" charset="-120"/>
              </a:rPr>
              <a:t>GLSEN. (2022). The 2021 National School Climate Survey. https://files.eric.ed.gov/fulltext/ED625378.pdf</a:t>
            </a:r>
            <a:endParaRPr lang="en-US" sz="1200" dirty="0"/>
          </a:p>
          <a:p>
            <a:pPr marL="152400" indent="-152400">
              <a:lnSpc>
                <a:spcPct val="115000"/>
              </a:lnSpc>
              <a:buSzPct val="100000"/>
              <a:buChar char="•"/>
            </a:pPr>
            <a:r>
              <a:rPr lang="en-US" sz="1200" dirty="0">
                <a:solidFill>
                  <a:srgbClr val="111111"/>
                </a:solidFill>
                <a:latin typeface="Times New Roman" pitchFamily="34" charset="0"/>
                <a:ea typeface="Times New Roman" pitchFamily="34" charset="-122"/>
                <a:cs typeface="Times New Roman" pitchFamily="34" charset="-120"/>
              </a:rPr>
              <a:t>Substance Abuse and Mental Health Services Administration. (2022). LGBTQI+ youth, like all Americans, deserve evidence-based care. https://www.samhsa.gov/blog/lgbtqi-youth-all-americans-deserve-evidence-based-care</a:t>
            </a:r>
            <a:endParaRPr lang="en-US" sz="1200" dirty="0"/>
          </a:p>
          <a:p>
            <a:pPr marL="152400" indent="-152400">
              <a:lnSpc>
                <a:spcPct val="115000"/>
              </a:lnSpc>
              <a:buSzPct val="100000"/>
              <a:buChar char="•"/>
            </a:pPr>
            <a:r>
              <a:rPr lang="en-US" sz="1200" dirty="0">
                <a:solidFill>
                  <a:srgbClr val="111111"/>
                </a:solidFill>
                <a:latin typeface="Times New Roman" pitchFamily="34" charset="0"/>
                <a:ea typeface="Times New Roman" pitchFamily="34" charset="-122"/>
                <a:cs typeface="Times New Roman" pitchFamily="34" charset="-120"/>
              </a:rPr>
              <a:t>The Trevor Project. (2023). School-related protective factors for LGBTQ middle and high school students. https://www.thetrevorproject.org/research-briefs/school-related-protective-factors-for-lgbtq-middle-and-high-school-students-aug-2023/</a:t>
            </a:r>
            <a:endParaRPr lang="en-US" sz="1200" dirty="0"/>
          </a:p>
          <a:p>
            <a:pPr marL="152400" indent="-152400">
              <a:lnSpc>
                <a:spcPct val="115000"/>
              </a:lnSpc>
              <a:buSzPct val="100000"/>
              <a:buChar char="•"/>
            </a:pPr>
            <a:r>
              <a:rPr lang="en-US" sz="1200" dirty="0">
                <a:solidFill>
                  <a:srgbClr val="111111"/>
                </a:solidFill>
                <a:latin typeface="Times New Roman" pitchFamily="34" charset="0"/>
                <a:ea typeface="Times New Roman" pitchFamily="34" charset="-122"/>
                <a:cs typeface="Times New Roman" pitchFamily="34" charset="-120"/>
              </a:rPr>
              <a:t>The Trevor Project. (2026). 2025 U.S. National Survey on the Mental Health of LGBTQ+ Young People. https://www.thetrevorproject.org/survey-2025/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0607040" cy="384048"/>
          </a:xfrm>
          <a:prstGeom prst="rect">
            <a:avLst/>
          </a:prstGeom>
          <a:noFill/>
          <a:ln/>
        </p:spPr>
        <p:txBody>
          <a:bodyPr wrap="square" lIns="635" tIns="635" rIns="635" bIns="635" rtlCol="0" anchor="ctr">
            <a:normAutofit/>
          </a:bodyPr>
          <a:lstStyle/>
          <a:p>
            <a:pPr indent="0" marL="0">
              <a:buNone/>
            </a:pPr>
            <a:r>
              <a:rPr lang="en-US" sz="2800" b="1" dirty="0">
                <a:solidFill>
                  <a:srgbClr val="111111"/>
                </a:solidFill>
                <a:latin typeface="Times New Roman" pitchFamily="34" charset="0"/>
                <a:ea typeface="Times New Roman" pitchFamily="34" charset="-122"/>
                <a:cs typeface="Times New Roman" pitchFamily="34" charset="-120"/>
              </a:rPr>
              <a:t>Acknowledgements</a:t>
            </a:r>
            <a:endParaRPr lang="en-US" sz="2800" dirty="0"/>
          </a:p>
        </p:txBody>
      </p:sp>
      <p:sp>
        <p:nvSpPr>
          <p:cNvPr id="3" name="Shape 1"/>
          <p:cNvSpPr/>
          <p:nvPr/>
        </p:nvSpPr>
        <p:spPr>
          <a:xfrm>
            <a:off x="502920" y="850392"/>
            <a:ext cx="11155680" cy="0"/>
          </a:xfrm>
          <a:prstGeom prst="line">
            <a:avLst/>
          </a:prstGeom>
          <a:noFill/>
          <a:ln w="12700">
            <a:solidFill>
              <a:srgbClr val="C8C8C8"/>
            </a:solidFill>
            <a:prstDash val="solid"/>
          </a:ln>
        </p:spPr>
      </p:sp>
      <p:sp>
        <p:nvSpPr>
          <p:cNvPr id="4" name="Text 2"/>
          <p:cNvSpPr/>
          <p:nvPr/>
        </p:nvSpPr>
        <p:spPr>
          <a:xfrm>
            <a:off x="11201400" y="6345936"/>
            <a:ext cx="411480" cy="182880"/>
          </a:xfrm>
          <a:prstGeom prst="rect">
            <a:avLst/>
          </a:prstGeom>
          <a:noFill/>
          <a:ln/>
        </p:spPr>
        <p:txBody>
          <a:bodyPr wrap="square" lIns="635" tIns="635" rIns="635" bIns="635" rtlCol="0" anchor="ctr">
            <a:normAutofit/>
          </a:bodyPr>
          <a:lstStyle/>
          <a:p>
            <a:pPr algn="r" indent="0" marL="0">
              <a:buNone/>
            </a:pPr>
            <a:r>
              <a:rPr lang="en-US" sz="1200" dirty="0">
                <a:solidFill>
                  <a:srgbClr val="111111"/>
                </a:solidFill>
                <a:latin typeface="Times New Roman" pitchFamily="34" charset="0"/>
                <a:ea typeface="Times New Roman" pitchFamily="34" charset="-122"/>
                <a:cs typeface="Times New Roman" pitchFamily="34" charset="-120"/>
              </a:rPr>
              <a:t>9</a:t>
            </a:r>
            <a:endParaRPr lang="en-US" sz="1200" dirty="0"/>
          </a:p>
        </p:txBody>
      </p:sp>
      <p:sp>
        <p:nvSpPr>
          <p:cNvPr id="5" name="Text 3"/>
          <p:cNvSpPr/>
          <p:nvPr/>
        </p:nvSpPr>
        <p:spPr>
          <a:xfrm>
            <a:off x="685800" y="1143000"/>
            <a:ext cx="10744200" cy="4983480"/>
          </a:xfrm>
          <a:prstGeom prst="rect">
            <a:avLst/>
          </a:prstGeom>
          <a:noFill/>
          <a:ln/>
        </p:spPr>
        <p:txBody>
          <a:bodyPr wrap="square" lIns="635" tIns="635" rIns="635" bIns="635" rtlCol="0" anchor="ctr">
            <a:normAutofit/>
          </a:bodyPr>
          <a:lstStyle/>
          <a:p>
            <a:pPr marL="190500" indent="-190500">
              <a:lnSpc>
                <a:spcPct val="115000"/>
              </a:lnSpc>
              <a:buSzPct val="100000"/>
              <a:buChar char="•"/>
            </a:pPr>
            <a:r>
              <a:rPr lang="en-US" sz="1400" dirty="0">
                <a:solidFill>
                  <a:srgbClr val="111111"/>
                </a:solidFill>
                <a:latin typeface="Times New Roman" pitchFamily="34" charset="0"/>
                <a:ea typeface="Times New Roman" pitchFamily="34" charset="-122"/>
                <a:cs typeface="Times New Roman" pitchFamily="34" charset="-120"/>
              </a:rPr>
              <a:t>Thank you to Lawted Wu for the criticism, guidance, and project structure. Thank you to classmates who will test the prototype and help me make the language clearer.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BNDS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Anonymous Support Check-In</dc:title>
  <dc:subject>Midterm presentation</dc:subject>
  <dc:creator>Ava Zhang</dc:creator>
  <cp:lastModifiedBy>Ava Zhang</cp:lastModifiedBy>
  <cp:revision>1</cp:revision>
  <dcterms:created xsi:type="dcterms:W3CDTF">2026-06-17T12:07:08Z</dcterms:created>
  <dcterms:modified xsi:type="dcterms:W3CDTF">2026-06-17T12:07:08Z</dcterms:modified>
</cp:coreProperties>
</file>